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4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4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4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90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90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98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7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5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01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52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25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12B63-0B7C-4C07-853B-8B76BF9C952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1428899-8E6D-4B0E-8499-468945E5C5C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709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9CABF2-D3F5-BD15-D80F-0801794C2C39}"/>
              </a:ext>
            </a:extLst>
          </p:cNvPr>
          <p:cNvSpPr txBox="1"/>
          <p:nvPr/>
        </p:nvSpPr>
        <p:spPr>
          <a:xfrm>
            <a:off x="882503" y="1136064"/>
            <a:ext cx="971106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              </a:t>
            </a:r>
            <a:r>
              <a:rPr lang="en-IN" sz="3200" dirty="0">
                <a:latin typeface="Algerian" panose="04020705040A02060702" pitchFamily="82" charset="0"/>
              </a:rPr>
              <a:t>Project Title: Bank Account System</a:t>
            </a:r>
          </a:p>
          <a:p>
            <a:r>
              <a:rPr lang="en-IN" sz="2800" dirty="0"/>
              <a:t>                             Course: Data Structures with C++</a:t>
            </a:r>
          </a:p>
          <a:p>
            <a:endParaRPr lang="en-IN" sz="2800" dirty="0"/>
          </a:p>
          <a:p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                                     </a:t>
            </a: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Submitted By:</a:t>
            </a:r>
          </a:p>
          <a:p>
            <a:r>
              <a:rPr lang="en-IN" sz="2400" dirty="0"/>
              <a:t>                                     P. Bhagya Sri          - 25A31A0589 (Team Lead)</a:t>
            </a:r>
          </a:p>
          <a:p>
            <a:r>
              <a:rPr lang="en-IN" sz="2400" dirty="0"/>
              <a:t>                                     P. Poojitha               - 25A31A0590</a:t>
            </a:r>
          </a:p>
          <a:p>
            <a:r>
              <a:rPr lang="en-IN" sz="2400" dirty="0"/>
              <a:t>                                     P. Syam Sundar    - 25A31A05AX</a:t>
            </a:r>
          </a:p>
          <a:p>
            <a:r>
              <a:rPr lang="en-IN" sz="2400" dirty="0"/>
              <a:t>                                     </a:t>
            </a:r>
            <a:r>
              <a:rPr lang="en-IN" sz="2400" dirty="0" err="1"/>
              <a:t>R.Hemanth</a:t>
            </a:r>
            <a:r>
              <a:rPr lang="en-IN" sz="2400" dirty="0"/>
              <a:t> Sai     - 25A31A05AY</a:t>
            </a:r>
          </a:p>
          <a:p>
            <a:endParaRPr lang="en-IN" dirty="0"/>
          </a:p>
          <a:p>
            <a:r>
              <a:rPr lang="en-IN" sz="2400" dirty="0"/>
              <a:t>                                     Under the Guidance of: Mrs. T.N.V. Durga</a:t>
            </a:r>
          </a:p>
          <a:p>
            <a:r>
              <a:rPr lang="en-IN" sz="2400" dirty="0"/>
              <a:t>                                                           CSE Department</a:t>
            </a:r>
          </a:p>
          <a:p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5729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A17D-01A5-1649-59EE-DBC968D82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930" y="786809"/>
            <a:ext cx="10515600" cy="4624610"/>
          </a:xfrm>
        </p:spPr>
        <p:txBody>
          <a:bodyPr>
            <a:normAutofit fontScale="62500" lnSpcReduction="20000"/>
          </a:bodyPr>
          <a:lstStyle/>
          <a:p>
            <a:pPr marL="457200" lvl="1" indent="0">
              <a:buNone/>
            </a:pPr>
            <a:r>
              <a:rPr lang="en-US" sz="5700" dirty="0">
                <a:latin typeface="Algerian" panose="04020705040A02060702" pitchFamily="82" charset="0"/>
              </a:rPr>
              <a:t>           Project Description</a:t>
            </a:r>
          </a:p>
          <a:p>
            <a:endParaRPr lang="en-US" dirty="0"/>
          </a:p>
          <a:p>
            <a:r>
              <a:rPr lang="en-US" sz="3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Concept:</a:t>
            </a:r>
            <a:r>
              <a:rPr lang="en-US" dirty="0"/>
              <a:t> A menu-driven console application simulating real-world banking operations</a:t>
            </a:r>
          </a:p>
          <a:p>
            <a:endParaRPr lang="en-US" dirty="0"/>
          </a:p>
          <a:p>
            <a:r>
              <a:rPr lang="en-US" sz="3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Objective: </a:t>
            </a:r>
            <a:r>
              <a:rPr lang="en-US" dirty="0"/>
              <a:t>To manage customer accounts, transactions, and records efficiently using optimized Data Structures</a:t>
            </a:r>
          </a:p>
          <a:p>
            <a:endParaRPr lang="en-US" dirty="0"/>
          </a:p>
          <a:p>
            <a:r>
              <a:rPr lang="en-US" sz="3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Key Operations:</a:t>
            </a:r>
          </a:p>
          <a:p>
            <a:pPr marL="0" indent="0">
              <a:buNone/>
            </a:pPr>
            <a:r>
              <a:rPr lang="en-US" dirty="0"/>
              <a:t>- Account Creation &amp; Deletion</a:t>
            </a:r>
          </a:p>
          <a:p>
            <a:pPr marL="0" indent="0">
              <a:buNone/>
            </a:pPr>
            <a:r>
              <a:rPr lang="en-US" dirty="0"/>
              <a:t>- Fund Deposits &amp; Withdrawals  </a:t>
            </a:r>
          </a:p>
          <a:p>
            <a:pPr marL="0" indent="0">
              <a:buNone/>
            </a:pPr>
            <a:r>
              <a:rPr lang="en-US" dirty="0"/>
              <a:t>- Transaction History Tracking</a:t>
            </a:r>
          </a:p>
          <a:p>
            <a:pPr marL="0" indent="0">
              <a:buNone/>
            </a:pPr>
            <a:r>
              <a:rPr lang="en-US" dirty="0"/>
              <a:t>- High-speed Account Searching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908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B3BEF-A04E-CC6F-0CAB-7075AECF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07" y="451719"/>
            <a:ext cx="10515600" cy="12452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System Architecture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C540-C940-8F7C-2F5F-D1E6B3FEB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507" y="818707"/>
            <a:ext cx="10992294" cy="54226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User Input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Main()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Banking System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Account (Base Class)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Savings / Current (Derived)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Operations (Create, Deposit, Withdraw, Display)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45061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C85B-BCAA-57B2-C6FD-94BED360C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121" y="216269"/>
            <a:ext cx="13288925" cy="1325563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Core Algorithms (The Logic)</a:t>
            </a:r>
            <a:br>
              <a:rPr lang="en-IN" dirty="0">
                <a:latin typeface="Algerian" panose="04020705040A02060702" pitchFamily="82" charset="0"/>
              </a:rPr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522D-B523-65F6-79AF-5BDBB9D1E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744279"/>
            <a:ext cx="10992293" cy="50924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 1:</a:t>
            </a:r>
            <a:r>
              <a:rPr lang="en-IN" dirty="0"/>
              <a:t> Creation</a:t>
            </a:r>
          </a:p>
          <a:p>
            <a:pPr marL="0" indent="0">
              <a:buNone/>
            </a:pPr>
            <a:r>
              <a:rPr lang="en-IN" dirty="0"/>
              <a:t>Uses Linked List Append to add new nodes at the tail</a:t>
            </a:r>
          </a:p>
          <a:p>
            <a:endParaRPr lang="en-IN" dirty="0"/>
          </a:p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 2 &amp; 6: </a:t>
            </a:r>
            <a:r>
              <a:rPr lang="en-IN" dirty="0"/>
              <a:t>Transactions  </a:t>
            </a:r>
          </a:p>
          <a:p>
            <a:pPr marL="0" indent="0">
              <a:buNone/>
            </a:pPr>
            <a:r>
              <a:rPr lang="en-IN" dirty="0"/>
              <a:t>Balance updates are followed by a Stack Push to record history</a:t>
            </a:r>
          </a:p>
          <a:p>
            <a:endParaRPr lang="en-IN" dirty="0"/>
          </a:p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 3: </a:t>
            </a:r>
            <a:r>
              <a:rPr lang="en-IN" dirty="0"/>
              <a:t>Validation</a:t>
            </a:r>
          </a:p>
          <a:p>
            <a:pPr marL="0" indent="0">
              <a:buNone/>
            </a:pPr>
            <a:r>
              <a:rPr lang="en-IN" dirty="0"/>
              <a:t>Uses Virtual Functions for account-specific withdrawal rules</a:t>
            </a:r>
          </a:p>
          <a:p>
            <a:endParaRPr lang="en-IN" dirty="0"/>
          </a:p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 4:</a:t>
            </a:r>
            <a:r>
              <a:rPr lang="en-IN" dirty="0"/>
              <a:t> Search</a:t>
            </a:r>
          </a:p>
          <a:p>
            <a:pPr marL="0" indent="0">
              <a:buNone/>
            </a:pPr>
            <a:r>
              <a:rPr lang="en-IN" dirty="0"/>
              <a:t>Performs Bubble Sort on an array followed by Binary Search (O(log n))</a:t>
            </a:r>
          </a:p>
          <a:p>
            <a:endParaRPr lang="en-IN" dirty="0"/>
          </a:p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Algorithm 5: </a:t>
            </a:r>
            <a:r>
              <a:rPr lang="en-IN" dirty="0"/>
              <a:t>Deletion</a:t>
            </a:r>
          </a:p>
          <a:p>
            <a:pPr marL="0" indent="0">
              <a:buNone/>
            </a:pPr>
            <a:r>
              <a:rPr lang="en-IN" dirty="0"/>
              <a:t>Uses Node Removal logic by updating pointers (</a:t>
            </a:r>
            <a:r>
              <a:rPr lang="en-IN" dirty="0" err="1"/>
              <a:t>prev</a:t>
            </a:r>
            <a:r>
              <a:rPr lang="en-IN" dirty="0"/>
              <a:t>-&gt;next = </a:t>
            </a:r>
            <a:r>
              <a:rPr lang="en-IN" dirty="0" err="1"/>
              <a:t>curr</a:t>
            </a:r>
            <a:r>
              <a:rPr lang="en-IN" dirty="0"/>
              <a:t>-&gt;next) and deallocating memory</a:t>
            </a:r>
          </a:p>
        </p:txBody>
      </p:sp>
    </p:spTree>
    <p:extLst>
      <p:ext uri="{BB962C8B-B14F-4D97-AF65-F5344CB8AC3E}">
        <p14:creationId xmlns:p14="http://schemas.microsoft.com/office/powerpoint/2010/main" val="381572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0F17-BBE8-624F-081B-A80A67FB6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74" y="588409"/>
            <a:ext cx="11841126" cy="132556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 Structure Implementation</a:t>
            </a:r>
            <a:br>
              <a:rPr lang="en-US" dirty="0">
                <a:latin typeface="Algerian" panose="04020705040A02060702" pitchFamily="82" charset="0"/>
              </a:rPr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10FE-28B1-B972-6E7A-CE5473DD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58" y="146411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Node Structure:</a:t>
            </a:r>
          </a:p>
          <a:p>
            <a:r>
              <a:rPr lang="en-US" dirty="0"/>
              <a:t>Data Part: Account ID, Name, Balance</a:t>
            </a:r>
          </a:p>
          <a:p>
            <a:r>
              <a:rPr lang="en-US" dirty="0"/>
              <a:t>Pointer Part: *next to link to the next customer</a:t>
            </a:r>
          </a:p>
          <a:p>
            <a:endParaRPr lang="en-US" dirty="0"/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Memory Management: </a:t>
            </a:r>
            <a:r>
              <a:rPr lang="en-US" dirty="0"/>
              <a:t>Explicit use of new for allocation and delete for node removal to prevent memory leaks</a:t>
            </a:r>
          </a:p>
          <a:p>
            <a:endParaRPr lang="en-US" dirty="0"/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Polymorphic Traversal: </a:t>
            </a:r>
            <a:r>
              <a:rPr lang="en-US" dirty="0"/>
              <a:t>A single loop can display all account types correctly using the base class pointer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62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A05C-4E67-8492-FD9A-C974077C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81" y="226902"/>
            <a:ext cx="12374526" cy="132556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Execution &amp; Output Proof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2072A-7F3F-0E16-8E01-4FAE50054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261" y="3621485"/>
            <a:ext cx="9719930" cy="2875941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Analysis:</a:t>
            </a:r>
          </a:p>
          <a:p>
            <a:r>
              <a:rPr lang="en-US" dirty="0"/>
              <a:t>Shows successful creation of "Alice" (Savings) and "Bob" (Checking)</a:t>
            </a:r>
          </a:p>
          <a:p>
            <a:r>
              <a:rPr lang="en-US" dirty="0"/>
              <a:t>Demonstrates correct traversal of the Linked List</a:t>
            </a:r>
          </a:p>
          <a:p>
            <a:r>
              <a:rPr lang="en-US" dirty="0"/>
              <a:t> Confirms that the system correctly identifies account types during display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2C9D-0707-C696-D976-26AC8B3CE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91" y="1417776"/>
            <a:ext cx="9601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6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D8EAA832-EA3A-A909-9E27-00D170BE3760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361508" y="365125"/>
            <a:ext cx="1099229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8BC1B-B737-1756-74D9-D59215ACD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384" y="4508206"/>
            <a:ext cx="11389243" cy="159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Conclusion:</a:t>
            </a:r>
          </a:p>
          <a:p>
            <a:r>
              <a:rPr lang="en-US" dirty="0"/>
              <a:t>The project successfully demonstrates the use of linear data structures to solve real-world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A040D-DD7D-E296-9CAB-5273BACD9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16" y="1233377"/>
            <a:ext cx="10277475" cy="299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897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</TotalTime>
  <Words>376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Algerian</vt:lpstr>
      <vt:lpstr>Arial</vt:lpstr>
      <vt:lpstr>Rockwell</vt:lpstr>
      <vt:lpstr>Gallery</vt:lpstr>
      <vt:lpstr>PowerPoint Presentation</vt:lpstr>
      <vt:lpstr>PowerPoint Presentation</vt:lpstr>
      <vt:lpstr>System Architecture</vt:lpstr>
      <vt:lpstr>Core Algorithms (The Logic) </vt:lpstr>
      <vt:lpstr>Data Structure Implementation </vt:lpstr>
      <vt:lpstr>Execution &amp; Output Proof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BHAGYASRI PATAMSETTI</dc:creator>
  <cp:lastModifiedBy>BHAGYASRI PATAMSETTI</cp:lastModifiedBy>
  <cp:revision>1</cp:revision>
  <dcterms:created xsi:type="dcterms:W3CDTF">2026-04-16T10:21:46Z</dcterms:created>
  <dcterms:modified xsi:type="dcterms:W3CDTF">2026-04-16T11:11:21Z</dcterms:modified>
</cp:coreProperties>
</file>